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9fea2c3e384461" /><Relationship Type="http://schemas.openxmlformats.org/officeDocument/2006/relationships/extended-properties" Target="/docProps/app.xml" Id="Rc69aa726a4c842d5" /><Relationship Type="http://schemas.openxmlformats.org/officeDocument/2006/relationships/officeDocument" Target="/ppt/presentation.xml" Id="R786ab29b040f457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2bf5e9c8db34e20"/>
  </p:sldMasterIdLst>
  <p:notesMasterIdLst>
    <p:notesMasterId xmlns:r="http://schemas.openxmlformats.org/officeDocument/2006/relationships" r:id="Rdbebfce7b98b4693"/>
  </p:notesMasterIdLst>
  <p:sldIdLst>
    <p:sldId xmlns:r="http://schemas.openxmlformats.org/officeDocument/2006/relationships" id="256" r:id="Red2a46468192437a"/>
    <p:sldId xmlns:r="http://schemas.openxmlformats.org/officeDocument/2006/relationships" id="257" r:id="R37635e1616c64d78"/>
    <p:sldId xmlns:r="http://schemas.openxmlformats.org/officeDocument/2006/relationships" id="258" r:id="R8e172a24f5134317"/>
    <p:sldId xmlns:r="http://schemas.openxmlformats.org/officeDocument/2006/relationships" id="259" r:id="Rb173e1da89e543b9"/>
    <p:sldId xmlns:r="http://schemas.openxmlformats.org/officeDocument/2006/relationships" id="260" r:id="R5f11c85bbb9942d1"/>
    <p:sldId xmlns:r="http://schemas.openxmlformats.org/officeDocument/2006/relationships" id="261" r:id="R7e390770422640a6"/>
    <p:sldId xmlns:r="http://schemas.openxmlformats.org/officeDocument/2006/relationships" id="262" r:id="R6672f50e3c88425c"/>
    <p:sldId xmlns:r="http://schemas.openxmlformats.org/officeDocument/2006/relationships" id="263" r:id="Rf39fe983cbad4198"/>
    <p:sldId xmlns:r="http://schemas.openxmlformats.org/officeDocument/2006/relationships" id="264" r:id="R08840879b7b74761"/>
    <p:sldId xmlns:r="http://schemas.openxmlformats.org/officeDocument/2006/relationships" id="265" r:id="R793e8708587f48ee"/>
  </p:sldIdLst>
  <p:sldSz cx="12192000" cy="6858000"/>
  <p:notesSz cx="6858000" cy="9144000"/>
  <p:embeddedFontLst>
    <p:embeddedFont>
      <p:font typeface="Helvetica Neue"/>
      <p:regular xmlns:r="http://schemas.openxmlformats.org/officeDocument/2006/relationships" r:id="R3366b01f4df946f7"/>
      <p:bold xmlns:r="http://schemas.openxmlformats.org/officeDocument/2006/relationships" r:id="R2535206d7638428c"/>
      <p:italic xmlns:r="http://schemas.openxmlformats.org/officeDocument/2006/relationships" r:id="R1ab07c1232144393"/>
      <p:boldItalic xmlns:r="http://schemas.openxmlformats.org/officeDocument/2006/relationships" r:id="Rde540f2be101448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2F08A64A-5A62-4512-BD8C-7F7C75CF133A}">
  <a:tblStyle styleId="{2F08A64A-5A62-4512-BD8C-7F7C75CF133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f04947d21f42ce" /><Relationship Type="http://schemas.openxmlformats.org/officeDocument/2006/relationships/slideMaster" Target="/ppt/slideMasters/slideMaster1.xml" Id="Ra2bf5e9c8db34e20" /><Relationship Type="http://schemas.openxmlformats.org/officeDocument/2006/relationships/notesMaster" Target="/ppt/notesMasters/notesMaster1.xml" Id="Rdbebfce7b98b4693" /><Relationship Type="http://schemas.openxmlformats.org/officeDocument/2006/relationships/presProps" Target="/ppt/presProps.xml" Id="R8f0e9235072e4b0b" /><Relationship Type="http://schemas.openxmlformats.org/officeDocument/2006/relationships/tableStyles" Target="/ppt/tableStyles.xml" Id="R94982d422447491c" /><Relationship Type="http://schemas.openxmlformats.org/officeDocument/2006/relationships/font" Target="/ppt/fonts/font.dat" Id="R3366b01f4df946f7" /><Relationship Type="http://schemas.openxmlformats.org/officeDocument/2006/relationships/font" Target="/ppt/fonts/font2.dat" Id="R2535206d7638428c" /><Relationship Type="http://schemas.openxmlformats.org/officeDocument/2006/relationships/font" Target="/ppt/fonts/font3.dat" Id="R1ab07c1232144393" /><Relationship Type="http://schemas.openxmlformats.org/officeDocument/2006/relationships/font" Target="/ppt/fonts/font4.dat" Id="Rde540f2be1014489" /><Relationship Type="http://schemas.openxmlformats.org/officeDocument/2006/relationships/slide" Target="/ppt/slides/slide1.xml" Id="Red2a46468192437a" /><Relationship Type="http://schemas.openxmlformats.org/officeDocument/2006/relationships/slide" Target="/ppt/slides/slide2.xml" Id="R37635e1616c64d78" /><Relationship Type="http://schemas.openxmlformats.org/officeDocument/2006/relationships/slide" Target="/ppt/slides/slide3.xml" Id="R8e172a24f5134317" /><Relationship Type="http://schemas.openxmlformats.org/officeDocument/2006/relationships/slide" Target="/ppt/slides/slide4.xml" Id="Rb173e1da89e543b9" /><Relationship Type="http://schemas.openxmlformats.org/officeDocument/2006/relationships/slide" Target="/ppt/slides/slide5.xml" Id="R5f11c85bbb9942d1" /><Relationship Type="http://schemas.openxmlformats.org/officeDocument/2006/relationships/slide" Target="/ppt/slides/slide6.xml" Id="R7e390770422640a6" /><Relationship Type="http://schemas.openxmlformats.org/officeDocument/2006/relationships/slide" Target="/ppt/slides/slide7.xml" Id="R6672f50e3c88425c" /><Relationship Type="http://schemas.openxmlformats.org/officeDocument/2006/relationships/slide" Target="/ppt/slides/slide8.xml" Id="Rf39fe983cbad4198" /><Relationship Type="http://schemas.openxmlformats.org/officeDocument/2006/relationships/slide" Target="/ppt/slides/slide9.xml" Id="R08840879b7b74761" /><Relationship Type="http://schemas.openxmlformats.org/officeDocument/2006/relationships/slide" Target="/ppt/slides/slide10.xml" Id="R793e8708587f48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14cb7eb96c4e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bdeb93332a468d" /><Relationship Type="http://schemas.openxmlformats.org/officeDocument/2006/relationships/notesMaster" Target="/ppt/notesMasters/notesMaster1.xml" Id="Re4d76da37a094f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3b69378407440f" /><Relationship Type="http://schemas.openxmlformats.org/officeDocument/2006/relationships/notesMaster" Target="/ppt/notesMasters/notesMaster1.xml" Id="R747ec2ab323445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04c445cde84240" /><Relationship Type="http://schemas.openxmlformats.org/officeDocument/2006/relationships/notesMaster" Target="/ppt/notesMasters/notesMaster1.xml" Id="Ra85cf8fec80f42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4d8b6869454113" /><Relationship Type="http://schemas.openxmlformats.org/officeDocument/2006/relationships/notesMaster" Target="/ppt/notesMasters/notesMaster1.xml" Id="Rf4d27a80f3184d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7cfba7617041cd" /><Relationship Type="http://schemas.openxmlformats.org/officeDocument/2006/relationships/notesMaster" Target="/ppt/notesMasters/notesMaster1.xml" Id="Re5764e19f16247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fb1f1e5a0d4bd3" /><Relationship Type="http://schemas.openxmlformats.org/officeDocument/2006/relationships/notesMaster" Target="/ppt/notesMasters/notesMaster1.xml" Id="R664eb1a99b1141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77edd62a0d443c" /><Relationship Type="http://schemas.openxmlformats.org/officeDocument/2006/relationships/notesMaster" Target="/ppt/notesMasters/notesMaster1.xml" Id="R9ce4df594dbc40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c7d17262b946da" /><Relationship Type="http://schemas.openxmlformats.org/officeDocument/2006/relationships/notesMaster" Target="/ppt/notesMasters/notesMaster1.xml" Id="R17ed9daa120845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08751bd30047c1" /><Relationship Type="http://schemas.openxmlformats.org/officeDocument/2006/relationships/notesMaster" Target="/ppt/notesMasters/notesMaster1.xml" Id="R658c6b1749054d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829aa884874da0" /><Relationship Type="http://schemas.openxmlformats.org/officeDocument/2006/relationships/notesMaster" Target="/ppt/notesMasters/notesMaster1.xml" Id="R504d6315853d4a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[Sources]</a:t>
            </a:r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Public-data notebook: ML_questions_Ultralow_Vaccine_Distribution_Data.</a:t>
            </a:r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Project artifacts: sensordashboard/README.md; sensordashboard/docs/terminal-runbook.md.</a:t>
            </a:r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>The deck distinguishes public-data findings, local synthetic software behavior, and planned physical-sensor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ML_questions_Ultralow_Vaccine_Distribution_Data notebook.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sensordashboard/README.md.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counts remain the notebook's public-data baseline; they are not counts from the live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ML_questions_Ultralow_Vaccine_Distribution_Data notebook.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sensordashboard/web/pages/domain-vaccine.html.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R² = 0.775 is a dataset result and should be treated as a validation screen, not a calibrated sensor-fault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ML_questions_Ultralow_Vaccine_Distribution_Data notebook.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sensordashboard/services/temperature_event_generator.py.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sensordashboard/tests/test_generator_scenarios.py.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The scenario names and deterministic behavior are software-test artifacts, not clinical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ML_questions_Ultralow_Vaccine_Distribution_Data notebook.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sensordashboard/services/ml_inference.py.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learning-records/0003-ml-inference-pipeline.md.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The public-data warm label is relative to the dataset; the inference service does not convert it into a product-specific safety threshold.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ML_questions_Ultralow_Vaccine_Distribution_Data notebook.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sensordashboard/services/ml_inference.py.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sensordashboard/tests/test_ml_inference.py.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ML_questions_Ultralow_Vaccine_Distribution_Data notebook.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sensordashboard/README.md.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sensordashboard/tests/.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This table is an evidence map. It separates observed notebook behavior, local software behavior, and planned physical or facility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Visual: sensordashboard/archive/artifacts/stitch-upload-package/references/current-raw-events.png.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Implementation: sensordashboard/README.md; sensordashboard/services/event_contract.py; sensordashboard/services/temperature_subscriber.py; sensordashboard/services/dashboard_bridge.py.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The screenshot is a project artifact showing a persisted-event read surface, not an external product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Visual: sensordashboard/archive/artifacts/stitch-upload-package/references/current-analytics.png.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Implementation: sensordashboard/README.md; sensordashboard/web/pages/domain-vaccine.html; sensordashboard/web/scripts/vaccine-data.js.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Dashboard values are synthetic demo data and are included to show the implemented monitoring surface, not a clinical performance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learning-records/0003-ml-inference-pipeline.md.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sensordashboard/services/ml_inference.py.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sensordashboard/services/ml_service.py.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sensordashboard/tests/test_ml_inference.py.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>The existing chart remains as the public-data visual context; the surrounding copy now explains how that learning work is kept read-only in the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4d7dd191d4c5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b34ad0b33543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8999271f2f4a0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b94905f9f248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6b1c28d73b41c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daeaedc8d0403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23884cf45a420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a83109cb4148bb" /></Relationships>
</file>

<file path=ppt/slideLayouts/slideLayout1.xml><?xml version="1.0" encoding="utf-8"?>
<p:sldLayout xmlns:p="http://schemas.openxmlformats.org/presentationml/2006/main" matchingName="Title Slid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777A8EA1-B1FC-442D-9250-557A9384725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elvetica Neue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6E2257DB-D77E-4B0A-B734-04FD3506AA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Helvetica Neue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 sz="1600"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Title 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C947B425-7787-4EC9-80DE-55D3E56708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</a:defRPr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97B4A9C4-AF81-47CC-8DEC-873A82317F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EF0E7781-456B-4294-A300-4F869B8778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2935A025-7C47-40BF-9D5F-AD5EA40425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24F97D5D-3053-4A80-9EEF-F154EE5326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</a:defRPr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72EC4977-FC8C-4638-AD83-4BD121CFB6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98DDFE23-439C-4CB5-9F1D-24A7DDF072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matchingName="Two Content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58B17621-0703-4B8A-A095-C50B07556A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8" name="Google Shape;28;p5">
            <a:extLst xmlns:a="http://schemas.openxmlformats.org/drawingml/2006/main">
              <a:ext uri="{FF2B5EF4-FFF2-40B4-BE49-F238E27FC236}">
                <a16:creationId xmlns:a16="http://schemas.microsoft.com/office/drawing/2014/main" id="{EF67ACCC-9432-40D8-99B4-FBC0C5D71A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</a:defRPr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5">
            <a:extLst xmlns:a="http://schemas.openxmlformats.org/drawingml/2006/main">
              <a:ext uri="{FF2B5EF4-FFF2-40B4-BE49-F238E27FC236}">
                <a16:creationId xmlns:a16="http://schemas.microsoft.com/office/drawing/2014/main" id="{63398BC6-D4DB-4A5A-9FEB-4798F6430D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4B5BF4FB-0AA8-4E8A-948E-2935EC86A9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1" name="Google Shape;31;p5">
            <a:extLst xmlns:a="http://schemas.openxmlformats.org/drawingml/2006/main">
              <a:ext uri="{FF2B5EF4-FFF2-40B4-BE49-F238E27FC236}">
                <a16:creationId xmlns:a16="http://schemas.microsoft.com/office/drawing/2014/main" id="{9D0E27E6-95C6-4450-96DC-7E249D9EAB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matchingName="Three Content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BAE5AF55-77C4-4AB8-AE72-5B615E506A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9D7340E7-E7D1-46DE-AF2D-82A4E2FCFC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</a:defRPr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01C14B40-ECBB-4830-AAA8-8E337CDEC7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AB4D5381-04A2-4740-9740-FE681B1F21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63368D4E-BF5F-49F7-8F53-FC7F5AC65F4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1FEE4AA2-B2B5-4270-AA1D-BEB0FF1ED4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matchingName="Four Content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7">
            <a:extLst xmlns:a="http://schemas.openxmlformats.org/drawingml/2006/main">
              <a:ext uri="{FF2B5EF4-FFF2-40B4-BE49-F238E27FC236}">
                <a16:creationId xmlns:a16="http://schemas.microsoft.com/office/drawing/2014/main" id="{B0503B49-34A4-4E9D-B71D-BEF5E284D8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 sz="16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 sz="16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 sz="16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1" name="Google Shape;41;p7">
            <a:extLst xmlns:a="http://schemas.openxmlformats.org/drawingml/2006/main">
              <a:ext uri="{FF2B5EF4-FFF2-40B4-BE49-F238E27FC236}">
                <a16:creationId xmlns:a16="http://schemas.microsoft.com/office/drawing/2014/main" id="{95E155F9-1BF4-4137-AA1F-DC3830D980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</a:defRPr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7">
            <a:extLst xmlns:a="http://schemas.openxmlformats.org/drawingml/2006/main">
              <a:ext uri="{FF2B5EF4-FFF2-40B4-BE49-F238E27FC236}">
                <a16:creationId xmlns:a16="http://schemas.microsoft.com/office/drawing/2014/main" id="{A19D00CB-9D9A-4293-AE3D-7522382F48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43" name="Google Shape;43;p7">
            <a:extLst xmlns:a="http://schemas.openxmlformats.org/drawingml/2006/main">
              <a:ext uri="{FF2B5EF4-FFF2-40B4-BE49-F238E27FC236}">
                <a16:creationId xmlns:a16="http://schemas.microsoft.com/office/drawing/2014/main" id="{9D9E5932-6196-46D6-9C47-E237F00D98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6CCAD09D-6A6D-4795-B6AC-134FE337A9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34966" y="2213811"/>
            <a:ext cx="2595934" cy="3780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  <a:defRPr sz="18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  <a:defRPr sz="18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  <a:defRPr sz="18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  <a:defRPr sz="18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  <a:defRPr sz="18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54191042-6402-496D-949F-841FB620092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 sz="16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 sz="16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 sz="16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4D47C5BE-41D6-475C-8329-DBAE9555CD6A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9205679" y="2213811"/>
            <a:ext cx="2595934" cy="3780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  <a:defRPr sz="18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  <a:defRPr sz="18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  <a:defRPr sz="18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  <a:defRPr sz="18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  <a:defRPr sz="18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matchingName="Footer Only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8">
            <a:extLst xmlns:a="http://schemas.openxmlformats.org/drawingml/2006/main">
              <a:ext uri="{FF2B5EF4-FFF2-40B4-BE49-F238E27FC236}">
                <a16:creationId xmlns:a16="http://schemas.microsoft.com/office/drawing/2014/main" id="{461F81CC-62A7-4520-836B-653C6E2DE1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</a:defRPr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Google Shape;49;p8">
            <a:extLst xmlns:a="http://schemas.openxmlformats.org/drawingml/2006/main">
              <a:ext uri="{FF2B5EF4-FFF2-40B4-BE49-F238E27FC236}">
                <a16:creationId xmlns:a16="http://schemas.microsoft.com/office/drawing/2014/main" id="{52C46A53-DE2A-492B-AE02-F6C8ADBA66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35dfcc5c01462c" /><Relationship Type="http://schemas.openxmlformats.org/officeDocument/2006/relationships/slideLayout" Target="/ppt/slideLayouts/slideLayout1.xml" Id="R39cdcba2f69c45a2" /><Relationship Type="http://schemas.openxmlformats.org/officeDocument/2006/relationships/slideLayout" Target="/ppt/slideLayouts/slideLayout2.xml" Id="Radced748f9d04c76" /><Relationship Type="http://schemas.openxmlformats.org/officeDocument/2006/relationships/slideLayout" Target="/ppt/slideLayouts/slideLayout3.xml" Id="R6a902fece0b54443" /><Relationship Type="http://schemas.openxmlformats.org/officeDocument/2006/relationships/slideLayout" Target="/ppt/slideLayouts/slideLayout4.xml" Id="R8cb0c03a4cb8421a" /><Relationship Type="http://schemas.openxmlformats.org/officeDocument/2006/relationships/slideLayout" Target="/ppt/slideLayouts/slideLayout5.xml" Id="Rb2f0e1ebce704ff4" /><Relationship Type="http://schemas.openxmlformats.org/officeDocument/2006/relationships/slideLayout" Target="/ppt/slideLayouts/slideLayout6.xml" Id="Rf69524c7c4444fa0" /><Relationship Type="http://schemas.openxmlformats.org/officeDocument/2006/relationships/slideLayout" Target="/ppt/slideLayouts/slideLayout7.xml" Id="R0ea564b1c72e43ac" /><Relationship Type="http://schemas.openxmlformats.org/officeDocument/2006/relationships/slideLayout" Target="/ppt/slideLayouts/slideLayout8.xml" Id="R59b997a40807488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33C272E9-9A45-453B-B6B6-80882EEAB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Helvetica Neue"/>
              <a:buNone/>
              <a:defRPr sz="29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EA2A2239-2117-497D-8140-DC9BFD3309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Char char="•"/>
              <a:defRPr sz="24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Helvetica Neue"/>
              <a:buChar char="•"/>
              <a:defRPr sz="20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Char char="•"/>
              <a:defRPr sz="18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Char char="•"/>
              <a:defRPr sz="18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Char char="•"/>
              <a:defRPr sz="18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Char char="•"/>
              <a:defRPr sz="18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Char char="•"/>
              <a:defRPr sz="18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Char char="•"/>
              <a:defRPr sz="18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Char char="•"/>
              <a:defRPr sz="18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/>
        </p:txBody>
      </p:sp>
      <p:sp>
        <p:nvSpPr>
          <p:cNvPr id="12" name="Google Shape;12;p1">
            <a:extLst xmlns:a="http://schemas.openxmlformats.org/drawingml/2006/main">
              <a:ext uri="{FF2B5EF4-FFF2-40B4-BE49-F238E27FC236}">
                <a16:creationId xmlns:a16="http://schemas.microsoft.com/office/drawing/2014/main" id="{008C4DD9-F3A2-4FAE-BD24-EF1BBA5E55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/>
        </p:txBody>
      </p:sp>
      <p:sp>
        <p:nvSpPr>
          <p:cNvPr id="13" name="Google Shape;13;p1">
            <a:extLst xmlns:a="http://schemas.openxmlformats.org/drawingml/2006/main">
              <a:ext uri="{FF2B5EF4-FFF2-40B4-BE49-F238E27FC236}">
                <a16:creationId xmlns:a16="http://schemas.microsoft.com/office/drawing/2014/main" id="{81E3EFA6-1F2B-45C1-A648-6AB0B192EA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r">
              <a:spcBef>
                <a:spcPts val="0"/>
              </a:spcBef>
              <a:buClr>
                <a:schemeClr val="lt1"/>
              </a:buClr>
              <a:buSzPts val="1000"/>
              <a:buFont typeface="Helvetica Neue"/>
              <a:buNone/>
              <a:def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cdcba2f69c45a2"/>
    <p:sldLayoutId xmlns:r="http://schemas.openxmlformats.org/officeDocument/2006/relationships" id="2147483650" r:id="Radced748f9d04c76"/>
    <p:sldLayoutId xmlns:r="http://schemas.openxmlformats.org/officeDocument/2006/relationships" id="2147483651" r:id="R6a902fece0b54443"/>
    <p:sldLayoutId xmlns:r="http://schemas.openxmlformats.org/officeDocument/2006/relationships" id="2147483652" r:id="R8cb0c03a4cb8421a"/>
    <p:sldLayoutId xmlns:r="http://schemas.openxmlformats.org/officeDocument/2006/relationships" id="2147483653" r:id="Rb2f0e1ebce704ff4"/>
    <p:sldLayoutId xmlns:r="http://schemas.openxmlformats.org/officeDocument/2006/relationships" id="2147483654" r:id="Rf69524c7c4444fa0"/>
    <p:sldLayoutId xmlns:r="http://schemas.openxmlformats.org/officeDocument/2006/relationships" id="2147483655" r:id="R0ea564b1c72e43ac"/>
    <p:sldLayoutId xmlns:r="http://schemas.openxmlformats.org/officeDocument/2006/relationships" id="2147483656" r:id="R59b997a408074885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xmlns:a="http://schemas.openxmlformats.org/drawingml/2006/main" val="F26B43"/>
          </p15:clr>
        </p15:guide>
        <p15:guide id="2" pos="7680">
          <p15:clr>
            <a:srgbClr xmlns:a="http://schemas.openxmlformats.org/drawingml/2006/main" val="F26B43"/>
          </p15:clr>
        </p15:guide>
        <p15:guide id="3" pos="248">
          <p15:clr>
            <a:srgbClr xmlns:a="http://schemas.openxmlformats.org/drawingml/2006/main" val="F26B43"/>
          </p15:clr>
        </p15:guide>
        <p15:guide id="4" pos="1264">
          <p15:clr>
            <a:srgbClr xmlns:a="http://schemas.openxmlformats.org/drawingml/2006/main" val="F26B43"/>
          </p15:clr>
        </p15:guide>
        <p15:guide id="5" pos="1480">
          <p15:clr>
            <a:srgbClr xmlns:a="http://schemas.openxmlformats.org/drawingml/2006/main" val="F26B43"/>
          </p15:clr>
        </p15:guide>
        <p15:guide id="6" pos="2496">
          <p15:clr>
            <a:srgbClr xmlns:a="http://schemas.openxmlformats.org/drawingml/2006/main" val="F26B43"/>
          </p15:clr>
        </p15:guide>
        <p15:guide id="7" pos="2712">
          <p15:clr>
            <a:srgbClr xmlns:a="http://schemas.openxmlformats.org/drawingml/2006/main" val="F26B43"/>
          </p15:clr>
        </p15:guide>
        <p15:guide id="8" pos="3736">
          <p15:clr>
            <a:srgbClr xmlns:a="http://schemas.openxmlformats.org/drawingml/2006/main" val="F26B43"/>
          </p15:clr>
        </p15:guide>
        <p15:guide id="9" pos="3944">
          <p15:clr>
            <a:srgbClr xmlns:a="http://schemas.openxmlformats.org/drawingml/2006/main" val="F26B43"/>
          </p15:clr>
        </p15:guide>
        <p15:guide id="10" pos="4968">
          <p15:clr>
            <a:srgbClr xmlns:a="http://schemas.openxmlformats.org/drawingml/2006/main" val="F26B43"/>
          </p15:clr>
        </p15:guide>
        <p15:guide id="11" pos="5184">
          <p15:clr>
            <a:srgbClr xmlns:a="http://schemas.openxmlformats.org/drawingml/2006/main" val="F26B43"/>
          </p15:clr>
        </p15:guide>
        <p15:guide id="12" pos="6200">
          <p15:clr>
            <a:srgbClr xmlns:a="http://schemas.openxmlformats.org/drawingml/2006/main" val="F26B43"/>
          </p15:clr>
        </p15:guide>
        <p15:guide id="13" pos="6416">
          <p15:clr>
            <a:srgbClr xmlns:a="http://schemas.openxmlformats.org/drawingml/2006/main" val="F26B43"/>
          </p15:clr>
        </p15:guide>
        <p15:guide id="14" pos="7432">
          <p15:clr>
            <a:srgbClr xmlns:a="http://schemas.openxmlformats.org/drawingml/2006/main" val="F26B43"/>
          </p15:clr>
        </p15:guide>
        <p15:guide id="15" orient="horz">
          <p15:clr>
            <a:srgbClr xmlns:a="http://schemas.openxmlformats.org/drawingml/2006/main" val="F26B43"/>
          </p15:clr>
        </p15:guide>
        <p15:guide id="16" orient="horz" pos="248">
          <p15:clr>
            <a:srgbClr xmlns:a="http://schemas.openxmlformats.org/drawingml/2006/main" val="F26B43"/>
          </p15:clr>
        </p15:guide>
        <p15:guide id="17" orient="horz" pos="656">
          <p15:clr>
            <a:srgbClr xmlns:a="http://schemas.openxmlformats.org/drawingml/2006/main" val="F26B43"/>
          </p15:clr>
        </p15:guide>
        <p15:guide id="18" orient="horz" pos="872">
          <p15:clr>
            <a:srgbClr xmlns:a="http://schemas.openxmlformats.org/drawingml/2006/main" val="F26B43"/>
          </p15:clr>
        </p15:guide>
        <p15:guide id="19" orient="horz" pos="1280">
          <p15:clr>
            <a:srgbClr xmlns:a="http://schemas.openxmlformats.org/drawingml/2006/main" val="F26B43"/>
          </p15:clr>
        </p15:guide>
        <p15:guide id="20" orient="horz" pos="1496">
          <p15:clr>
            <a:srgbClr xmlns:a="http://schemas.openxmlformats.org/drawingml/2006/main" val="F26B43"/>
          </p15:clr>
        </p15:guide>
        <p15:guide id="21" orient="horz" pos="1904">
          <p15:clr>
            <a:srgbClr xmlns:a="http://schemas.openxmlformats.org/drawingml/2006/main" val="F26B43"/>
          </p15:clr>
        </p15:guide>
        <p15:guide id="22" orient="horz" pos="2120">
          <p15:clr>
            <a:srgbClr xmlns:a="http://schemas.openxmlformats.org/drawingml/2006/main" val="F26B43"/>
          </p15:clr>
        </p15:guide>
        <p15:guide id="23" orient="horz" pos="2528">
          <p15:clr>
            <a:srgbClr xmlns:a="http://schemas.openxmlformats.org/drawingml/2006/main" val="F26B43"/>
          </p15:clr>
        </p15:guide>
        <p15:guide id="24" orient="horz" pos="2744">
          <p15:clr>
            <a:srgbClr xmlns:a="http://schemas.openxmlformats.org/drawingml/2006/main" val="F26B43"/>
          </p15:clr>
        </p15:guide>
        <p15:guide id="25" orient="horz" pos="3152">
          <p15:clr>
            <a:srgbClr xmlns:a="http://schemas.openxmlformats.org/drawingml/2006/main" val="F26B43"/>
          </p15:clr>
        </p15:guide>
        <p15:guide id="26" orient="horz" pos="3368">
          <p15:clr>
            <a:srgbClr xmlns:a="http://schemas.openxmlformats.org/drawingml/2006/main" val="F26B43"/>
          </p15:clr>
        </p15:guide>
        <p15:guide id="27" orient="horz" pos="3776">
          <p15:clr>
            <a:srgbClr xmlns:a="http://schemas.openxmlformats.org/drawingml/2006/main" val="F26B43"/>
          </p15:clr>
        </p15:guide>
        <p15:guide id="28" orient="horz" pos="408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9aaf89de040dd" /><Relationship Type="http://schemas.openxmlformats.org/officeDocument/2006/relationships/image" Target="/ppt/media/image.png" Id="R7d9ef46e4580403b" /><Relationship Type="http://schemas.openxmlformats.org/officeDocument/2006/relationships/notesSlide" Target="/ppt/notesSlides/notesSlide1.xml" Id="R035bf579eed745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f8ebe8e9aa4ff2" /><Relationship Type="http://schemas.openxmlformats.org/officeDocument/2006/relationships/notesSlide" Target="/ppt/notesSlides/notesSlide2.xml" Id="R6932495037a24f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7d59c171fa49c9" /><Relationship Type="http://schemas.openxmlformats.org/officeDocument/2006/relationships/image" Target="/ppt/media/image2.png" Id="R6fe1a3bc99e245bb" /><Relationship Type="http://schemas.openxmlformats.org/officeDocument/2006/relationships/notesSlide" Target="/ppt/notesSlides/notesSlide3.xml" Id="Rbe626f36a43b45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1fa37bd4714240" /><Relationship Type="http://schemas.openxmlformats.org/officeDocument/2006/relationships/image" Target="/ppt/media/image3.png" Id="R3bfa81406a7942bd" /><Relationship Type="http://schemas.openxmlformats.org/officeDocument/2006/relationships/notesSlide" Target="/ppt/notesSlides/notesSlide4.xml" Id="R4a204bf95fd845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8108d9ab274f36" /><Relationship Type="http://schemas.openxmlformats.org/officeDocument/2006/relationships/image" Target="/ppt/media/image4.png" Id="Rbacb5202fbae450e" /><Relationship Type="http://schemas.openxmlformats.org/officeDocument/2006/relationships/notesSlide" Target="/ppt/notesSlides/notesSlide5.xml" Id="Redd9f09db26546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9daa5a09424ed1" /><Relationship Type="http://schemas.openxmlformats.org/officeDocument/2006/relationships/image" Target="/ppt/media/image5.png" Id="R03accf3f24534c0d" /><Relationship Type="http://schemas.openxmlformats.org/officeDocument/2006/relationships/notesSlide" Target="/ppt/notesSlides/notesSlide6.xml" Id="R4ba8eef4f3d947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752bcece404e05" /><Relationship Type="http://schemas.openxmlformats.org/officeDocument/2006/relationships/notesSlide" Target="/ppt/notesSlides/notesSlide7.xml" Id="R1e94793870e948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e97c87b2b74be5" /><Relationship Type="http://schemas.openxmlformats.org/officeDocument/2006/relationships/image" Target="/ppt/media/image2.png" Id="Rc04b1ba92c1442dd" /><Relationship Type="http://schemas.openxmlformats.org/officeDocument/2006/relationships/notesSlide" Target="/ppt/notesSlides/notesSlide8.xml" Id="R90729addb27643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a62ce7491f4f59" /><Relationship Type="http://schemas.openxmlformats.org/officeDocument/2006/relationships/image" Target="/ppt/media/image3.png" Id="R351a65085a324aef" /><Relationship Type="http://schemas.openxmlformats.org/officeDocument/2006/relationships/notesSlide" Target="/ppt/notesSlides/notesSlide9.xml" Id="R81622abe5d7f4c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e2f1db82aa4a50" /><Relationship Type="http://schemas.openxmlformats.org/officeDocument/2006/relationships/image" Target="/ppt/media/image4.png" Id="R11c0255a5b3d4cf2" /><Relationship Type="http://schemas.openxmlformats.org/officeDocument/2006/relationships/notesSlide" Target="/ppt/notesSlides/notesSlide10.xml" Id="Re7979a12704b4c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Google Shape;56;p10">
            <a:extLst xmlns:a="http://schemas.openxmlformats.org/drawingml/2006/main">
              <a:ext uri="{FF2B5EF4-FFF2-40B4-BE49-F238E27FC236}">
                <a16:creationId xmlns:a16="http://schemas.microsoft.com/office/drawing/2014/main" id="{FE15220D-077F-496D-8177-0561C0FCB0C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733" y="1907316"/>
            <a:ext cx="7174888" cy="2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Helvetica Neue"/>
              <a:buNone/>
            </a:pPr>
            <a:r>
              <a:rPr sz="6200"/>
              <a:t>Machine Learning for</a:t>
            </a:r>
          </a:p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Helvetica Neue"/>
              <a:buNone/>
            </a:pPr>
            <a:r>
              <a:rPr sz="6200"/>
              <a:t>Ultralow Vaccine Distribution</a:t>
            </a:r>
          </a:p>
        </p:txBody>
      </p:sp>
      <p:sp>
        <p:nvSpPr>
          <p:cNvPr id="57" name="Google Shape;57;p10">
            <a:extLst xmlns:a="http://schemas.openxmlformats.org/drawingml/2006/main">
              <a:ext uri="{FF2B5EF4-FFF2-40B4-BE49-F238E27FC236}">
                <a16:creationId xmlns:a16="http://schemas.microsoft.com/office/drawing/2014/main" id="{2A72BD62-6103-4632-8473-3370CD5038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733" y="5264722"/>
            <a:ext cx="6910483" cy="1080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/>
              <a:t>Exploratory public-data analysis plus a local event-to-dashboard prototype</a:t>
            </a:r>
          </a:p>
        </p:txBody>
      </p:sp>
      <p:sp>
        <p:nvSpPr>
          <p:cNvPr id="58" name="Google Shape;58;p10">
            <a:extLst xmlns:a="http://schemas.openxmlformats.org/drawingml/2006/main">
              <a:ext uri="{FF2B5EF4-FFF2-40B4-BE49-F238E27FC236}">
                <a16:creationId xmlns:a16="http://schemas.microsoft.com/office/drawing/2014/main" id="{4C3E309B-79EA-41E5-BB8B-81944109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34" y="392241"/>
            <a:ext cx="5702300" cy="649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COLD-CHAIN MONITORING | AUGUST 2026</a:t>
            </a:r>
          </a:p>
        </p:txBody>
      </p:sp>
      <p:pic>
        <p:nvPicPr>
          <p:cNvPr id="63" name="Google Shape;59;p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ef46e4580403b">
            <a:alphaModFix amt="52999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>
            <a:off x="5759300" y="1238914"/>
            <a:ext cx="8572500" cy="4286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blurRad="57150" dist="19050" dir="5400000" algn="bl" rotWithShape="0">
              <a:srgbClr val="000000">
                <a:alpha val="1000"/>
              </a:srgbClr>
            </a:outerShdw>
            <a:reflection blurRad="0" stPos="0" endA="0" endPos="30000" dist="38100" dir="5400000" fadeDir="5400012" sy="-100000" kx="0" ky="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409016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Google Shape;65;p11">
            <a:extLst xmlns:a="http://schemas.openxmlformats.org/drawingml/2006/main">
              <a:ext uri="{FF2B5EF4-FFF2-40B4-BE49-F238E27FC236}">
                <a16:creationId xmlns:a16="http://schemas.microsoft.com/office/drawing/2014/main" id="{4AB8FEB9-B1F1-472E-8B2B-CFF091D1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t/>
            </a:r>
          </a:p>
        </p:txBody>
      </p:sp>
      <p:sp>
        <p:nvSpPr>
          <p:cNvPr id="66" name="Google Shape;66;p11">
            <a:extLst xmlns:a="http://schemas.openxmlformats.org/drawingml/2006/main">
              <a:ext uri="{FF2B5EF4-FFF2-40B4-BE49-F238E27FC236}">
                <a16:creationId xmlns:a16="http://schemas.microsoft.com/office/drawing/2014/main" id="{1278C717-7C9A-41B5-9EFA-494CF9C8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t/>
            </a:r>
          </a:p>
        </p:txBody>
      </p:sp>
      <p:sp>
        <p:nvSpPr>
          <p:cNvPr id="67" name="Google Shape;67;p11">
            <a:extLst xmlns:a="http://schemas.openxmlformats.org/drawingml/2006/main">
              <a:ext uri="{FF2B5EF4-FFF2-40B4-BE49-F238E27FC236}">
                <a16:creationId xmlns:a16="http://schemas.microsoft.com/office/drawing/2014/main" id="{E273AFD3-5F3D-4138-B13F-861D12D4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t/>
            </a:r>
          </a:p>
        </p:txBody>
      </p:sp>
      <p:sp>
        <p:nvSpPr>
          <p:cNvPr id="68" name="Google Shape;68;p11">
            <a:extLst xmlns:a="http://schemas.openxmlformats.org/drawingml/2006/main">
              <a:ext uri="{FF2B5EF4-FFF2-40B4-BE49-F238E27FC236}">
                <a16:creationId xmlns:a16="http://schemas.microsoft.com/office/drawing/2014/main" id="{E94DA784-1CEF-4BCA-BCBD-AC3F744F70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</a:pPr>
            <a:fld id="{00000000-1234-1234-1234-123412341234}" type="slidenum">
              <a: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‹#›</a:t>
            </a:fld>
          </a:p>
        </p:txBody>
      </p:sp>
      <p:sp>
        <p:nvSpPr>
          <p:cNvPr id="69" name="Google Shape;69;p11">
            <a:extLst xmlns:a="http://schemas.openxmlformats.org/drawingml/2006/main">
              <a:ext uri="{FF2B5EF4-FFF2-40B4-BE49-F238E27FC236}">
                <a16:creationId xmlns:a16="http://schemas.microsoft.com/office/drawing/2014/main" id="{8C327313-2CBE-4D51-94B4-531A29F87B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Helvetica Neue"/>
              <a:buNone/>
            </a:pPr>
            <a:r>
              <a:rPr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The public dataset established the ML baseline</a:t>
            </a:r>
          </a:p>
        </p:txBody>
      </p:sp>
      <p:sp>
        <p:nvSpPr>
          <p:cNvPr id="70" name="Google Shape;70;p11">
            <a:extLst xmlns:a="http://schemas.openxmlformats.org/drawingml/2006/main">
              <a:ext uri="{FF2B5EF4-FFF2-40B4-BE49-F238E27FC236}">
                <a16:creationId xmlns:a16="http://schemas.microsoft.com/office/drawing/2014/main" id="{FBA9708C-3A65-484A-BFF4-0CE7A1033C5B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702413" y="4900613"/>
            <a:ext cx="29495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</a:pPr>
            <a:r>
              <a:rPr sz="1600" b="0" i="0" u="none" cap="none">
                <a:latin typeface="Helvetica Neue"/>
                <a:ea typeface="Helvetica Neue"/>
                <a:cs typeface="Helvetica Neue"/>
              </a:rPr>
              <a:t>raw public rows loaded</a:t>
            </a:r>
          </a:p>
        </p:txBody>
      </p:sp>
      <p:sp>
        <p:nvSpPr>
          <p:cNvPr id="71" name="Google Shape;71;p11">
            <a:extLst xmlns:a="http://schemas.openxmlformats.org/drawingml/2006/main">
              <a:ext uri="{FF2B5EF4-FFF2-40B4-BE49-F238E27FC236}">
                <a16:creationId xmlns:a16="http://schemas.microsoft.com/office/drawing/2014/main" id="{2574A7C3-5089-4B2B-B51B-8FFAB385D76D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8541859" y="4900613"/>
            <a:ext cx="29495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Helvetica Neue"/>
              <a:buNone/>
            </a:pPr>
            <a:r>
              <a:rPr sz="1600" b="0" i="0" u="none" cap="none">
                <a:latin typeface="Helvetica Neue"/>
                <a:ea typeface="Helvetica Neue"/>
                <a:cs typeface="Helvetica Neue"/>
              </a:rPr>
              <a:t>rows used for next-change models</a:t>
            </a:r>
          </a:p>
        </p:txBody>
      </p:sp>
      <p:sp>
        <p:nvSpPr>
          <p:cNvPr id="72" name="Google Shape;72;p11">
            <a:extLst xmlns:a="http://schemas.openxmlformats.org/drawingml/2006/main">
              <a:ext uri="{FF2B5EF4-FFF2-40B4-BE49-F238E27FC236}">
                <a16:creationId xmlns:a16="http://schemas.microsoft.com/office/drawing/2014/main" id="{876F8C1F-7130-4F3E-A77D-2B897F463A3A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4621211" y="4900613"/>
            <a:ext cx="29495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</a:pPr>
            <a:r>
              <a:rPr sz="1600" b="0" i="0" u="none" cap="none">
                <a:latin typeface="Helvetica Neue"/>
                <a:ea typeface="Helvetica Neue"/>
                <a:cs typeface="Helvetica Neue"/>
              </a:rPr>
              <a:t>temperature channels</a:t>
            </a:r>
          </a:p>
        </p:txBody>
      </p:sp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D412DDEB-3F76-4E59-872D-CCCED55E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254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Helvetica Neue"/>
              <a:buNone/>
            </a:pPr>
            <a:r>
              <a:rPr sz="64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112,267</a:t>
            </a:r>
          </a:p>
        </p:txBody>
      </p:sp>
      <p:sp>
        <p:nvSpPr>
          <p:cNvPr id="74" name="Google Shape;74;p11">
            <a:extLst xmlns:a="http://schemas.openxmlformats.org/drawingml/2006/main">
              <a:ext uri="{FF2B5EF4-FFF2-40B4-BE49-F238E27FC236}">
                <a16:creationId xmlns:a16="http://schemas.microsoft.com/office/drawing/2014/main" id="{75C40063-8277-43F3-B95C-605428E2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254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</a:pPr>
            <a:r>
              <a:rPr sz="75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57</a:t>
            </a:r>
          </a:p>
        </p:txBody>
      </p:sp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A4EEA217-3E0F-4635-BCF9-93DEE707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254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Helvetica Neue"/>
              <a:buNone/>
            </a:pPr>
            <a:r>
              <a:rPr sz="64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112,266</a:t>
            </a:r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1B0D278D-077D-4DE8-B5CA-16A390B3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88153"/>
            <a:ext cx="11404500" cy="159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The notebook uses 112,267 raw readings across 57 temperature channels. The new prototype keeps this analysis separate from its simulated event stream.</a:t>
            </a:r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A706E38D-16B6-45C4-BF76-E415429CCB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</a:pPr>
            <a:r>
              <a:rPr sz="1000">
                <a:solidFill>
                  <a:schemeClr val="lt1"/>
                </a:solidFill>
              </a:rPr>
              <a:t>Source: public-data notebook + project README</a:t>
            </a:r>
          </a:p>
        </p:txBody>
      </p:sp>
    </p:spTree>
    <p:extLst>
      <p:ext uri="{BB962C8B-B14F-4D97-AF65-F5344CB8AC3E}">
        <p14:creationId xmlns:p14="http://schemas.microsoft.com/office/powerpoint/2010/main" val="4405853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C6CE4B59-9C50-4CD9-8FE1-7D87C7B636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</a:pPr>
            <a:r>
              <a:rPr sz="1000">
                <a:solidFill>
                  <a:schemeClr val="lt1"/>
                </a:solidFill>
              </a:rPr>
              <a:t>Source: public-data notebook + monitoring prototype</a:t>
            </a:r>
          </a:p>
        </p:txBody>
      </p:sp>
      <p:sp>
        <p:nvSpPr>
          <p:cNvPr id="84" name="Google Shape;84;p12">
            <a:extLst xmlns:a="http://schemas.openxmlformats.org/drawingml/2006/main">
              <a:ext uri="{FF2B5EF4-FFF2-40B4-BE49-F238E27FC236}">
                <a16:creationId xmlns:a16="http://schemas.microsoft.com/office/drawing/2014/main" id="{9565C3C3-28CC-4A1F-990A-DDC481ACC0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</a:pPr>
            <a:fld id="{00000000-1234-1234-1234-123412341234}" type="slidenum">
              <a: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‹#›</a:t>
            </a:fld>
          </a:p>
        </p:txBody>
      </p:sp>
      <p:sp>
        <p:nvSpPr>
          <p:cNvPr id="85" name="Google Shape;85;p12">
            <a:extLst xmlns:a="http://schemas.openxmlformats.org/drawingml/2006/main">
              <a:ext uri="{FF2B5EF4-FFF2-40B4-BE49-F238E27FC236}">
                <a16:creationId xmlns:a16="http://schemas.microsoft.com/office/drawing/2014/main" id="{12B3DEEB-5FED-49EC-930E-C3C90F54EA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Helvetica Neue"/>
              <a:buNone/>
            </a:pPr>
            <a:r>
              <a:rPr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Sensor agreement became a validation screen</a:t>
            </a:r>
          </a:p>
        </p:txBody>
      </p:sp>
      <p:sp>
        <p:nvSpPr>
          <p:cNvPr id="86" name="Google Shape;86;p12">
            <a:extLst xmlns:a="http://schemas.openxmlformats.org/drawingml/2006/main">
              <a:ext uri="{FF2B5EF4-FFF2-40B4-BE49-F238E27FC236}">
                <a16:creationId xmlns:a16="http://schemas.microsoft.com/office/drawing/2014/main" id="{D55BD803-4190-4C6B-A230-CBC5A46D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Sensor A predicts Sensor B with R² = 0.775</a:t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This public-data result supports a consistency check: large departures from the fitted relationship can flag disagreement or placement issues.</a:t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Prototype boundary: the current dashboard surfaces sensor variation and uncertainty; it does not claim calibrated sensor fault detection.</a:t>
            </a:r>
          </a:p>
        </p:txBody>
      </p:sp>
      <p:sp>
        <p:nvSpPr>
          <p:cNvPr id="87" name="Google Shape;87;p12">
            <a:extLst xmlns:a="http://schemas.openxmlformats.org/drawingml/2006/main">
              <a:ext uri="{FF2B5EF4-FFF2-40B4-BE49-F238E27FC236}">
                <a16:creationId xmlns:a16="http://schemas.microsoft.com/office/drawing/2014/main" id="{574FACFA-5E3C-4BC9-8398-CA4DAD83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25" y="875975"/>
            <a:ext cx="5778600" cy="87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Can an existing sensor relationship prioritize review?</a:t>
            </a:r>
          </a:p>
        </p:txBody>
      </p:sp>
      <p:pic>
        <p:nvPicPr>
          <p:cNvPr id="94" name="Google Shape;88;p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1a3bc99e245b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7400" y="1041399"/>
            <a:ext cx="5397000" cy="45831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089366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13">
            <a:extLst xmlns:a="http://schemas.openxmlformats.org/drawingml/2006/main">
              <a:ext uri="{FF2B5EF4-FFF2-40B4-BE49-F238E27FC236}">
                <a16:creationId xmlns:a16="http://schemas.microsoft.com/office/drawing/2014/main" id="{C7EFE77B-0F77-48CA-A855-1714863424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</a:pPr>
            <a:r>
              <a:rPr sz="1000">
                <a:solidFill>
                  <a:schemeClr val="lt1"/>
                </a:solidFill>
              </a:rPr>
              <a:t>Source: notebook proxy + sensordashboard scenarios</a:t>
            </a:r>
          </a:p>
        </p:txBody>
      </p:sp>
      <p:sp>
        <p:nvSpPr>
          <p:cNvPr id="95" name="Google Shape;95;p13">
            <a:extLst xmlns:a="http://schemas.openxmlformats.org/drawingml/2006/main">
              <a:ext uri="{FF2B5EF4-FFF2-40B4-BE49-F238E27FC236}">
                <a16:creationId xmlns:a16="http://schemas.microsoft.com/office/drawing/2014/main" id="{368FE4BE-F54F-41C5-BCF4-2B36C63E96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</a:pPr>
            <a:fld id="{00000000-1234-1234-1234-123412341234}" type="slidenum">
              <a: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‹#›</a:t>
            </a:fld>
          </a:p>
        </p:txBody>
      </p:sp>
      <p:sp>
        <p:nvSpPr>
          <p:cNvPr id="96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6DF545AB-C63E-4790-BFD9-58329B264F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Helvetica Neue"/>
              <a:buNone/>
            </a:pPr>
            <a:r>
              <a:rPr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The review label became deterministic scenarios</a:t>
            </a: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C8FE0E78-D425-4FC5-BD35-E68F94E8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11,228 of 112,266 windows are labeled for review</a:t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The prototype now generates normal, warning, recovery, mixed, and outlier scenarios with stable seeds.</a:t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These scenarios exercise the dashboard and persistence path; they are not clinical ground truth.</a:t>
            </a:r>
          </a:p>
        </p:txBody>
      </p:sp>
      <p:pic>
        <p:nvPicPr>
          <p:cNvPr id="105" name="Google Shape;9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bfa81406a7942b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51950" y="2032000"/>
            <a:ext cx="6273000" cy="31005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>
            <a:noFill/>
          </a:ln>
        </p:spPr>
      </p:pic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C0799AC7-5BD3-4FA1-88AF-BDC85316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25" y="875975"/>
            <a:ext cx="5778600" cy="87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Can unusual changes be reviewed without calling them confirmed failures?</a:t>
            </a:r>
          </a:p>
        </p:txBody>
      </p:sp>
    </p:spTree>
    <p:extLst>
      <p:ext uri="{BB962C8B-B14F-4D97-AF65-F5344CB8AC3E}">
        <p14:creationId xmlns:p14="http://schemas.microsoft.com/office/powerpoint/2010/main" val="1465104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Google Shape;105;p14">
            <a:extLst xmlns:a="http://schemas.openxmlformats.org/drawingml/2006/main">
              <a:ext uri="{FF2B5EF4-FFF2-40B4-BE49-F238E27FC236}">
                <a16:creationId xmlns:a16="http://schemas.microsoft.com/office/drawing/2014/main" id="{DF4E249A-5B65-4EDC-B00A-1BED9FF4F3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</a:pPr>
            <a:r>
              <a:rPr sz="1000">
                <a:solidFill>
                  <a:schemeClr val="lt1"/>
                </a:solidFill>
              </a:rPr>
              <a:t>Source: notebook proxy + read-only inference service</a:t>
            </a:r>
          </a:p>
        </p:txBody>
      </p:sp>
      <p:sp>
        <p:nvSpPr>
          <p:cNvPr id="106" name="Google Shape;106;p14">
            <a:extLst xmlns:a="http://schemas.openxmlformats.org/drawingml/2006/main">
              <a:ext uri="{FF2B5EF4-FFF2-40B4-BE49-F238E27FC236}">
                <a16:creationId xmlns:a16="http://schemas.microsoft.com/office/drawing/2014/main" id="{2F561AD8-09F2-4A2F-B3ED-9CBCB127B1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</a:pPr>
            <a:fld id="{00000000-1234-1234-1234-123412341234}" type="slidenum">
              <a: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‹#›</a:t>
            </a:fld>
          </a:p>
        </p:txBody>
      </p:sp>
      <p:sp>
        <p:nvSpPr>
          <p:cNvPr id="107" name="Google Shape;107;p14">
            <a:extLst xmlns:a="http://schemas.openxmlformats.org/drawingml/2006/main">
              <a:ext uri="{FF2B5EF4-FFF2-40B4-BE49-F238E27FC236}">
                <a16:creationId xmlns:a16="http://schemas.microsoft.com/office/drawing/2014/main" id="{78E453D5-D656-4388-9299-01DD045930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Helvetica Neue"/>
              <a:buNone/>
            </a:pPr>
            <a:r>
              <a:rPr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Relative warm probability is not a vaccine-safety probability</a:t>
            </a:r>
          </a:p>
        </p:txBody>
      </p:sp>
      <p:sp>
        <p:nvSpPr>
          <p:cNvPr id="108" name="Google Shape;108;p14">
            <a:extLst xmlns:a="http://schemas.openxmlformats.org/drawingml/2006/main">
              <a:ext uri="{FF2B5EF4-FFF2-40B4-BE49-F238E27FC236}">
                <a16:creationId xmlns:a16="http://schemas.microsoft.com/office/drawing/2014/main" id="{ED7C505F-7846-4867-A67F-B82A4DE5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“Warm” means the warmest 10% of next readings in the public dataset.</a:t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The new inference service applies saved parameters to one event and returns advisory context.</a:t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It does not estimate the probability of crossing a product-specific vaccine threshold.</a:t>
            </a:r>
          </a:p>
        </p:txBody>
      </p:sp>
      <p:pic>
        <p:nvPicPr>
          <p:cNvPr id="116" name="Google Shape;109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acb5202fbae450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90374" y="1937799"/>
            <a:ext cx="6199200" cy="28554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>
            <a:noFill/>
          </a:ln>
        </p:spPr>
      </p:pic>
      <p:sp>
        <p:nvSpPr>
          <p:cNvPr id="110" name="Google Shape;110;p14">
            <a:extLst xmlns:a="http://schemas.openxmlformats.org/drawingml/2006/main">
              <a:ext uri="{FF2B5EF4-FFF2-40B4-BE49-F238E27FC236}">
                <a16:creationId xmlns:a16="http://schemas.microsoft.com/office/drawing/2014/main" id="{16D9FC10-ABCD-4037-9A9A-5D3FD271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25" y="875975"/>
            <a:ext cx="5778600" cy="87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What does the saved model actually estimate?</a:t>
            </a:r>
          </a:p>
        </p:txBody>
      </p:sp>
    </p:spTree>
    <p:extLst>
      <p:ext uri="{BB962C8B-B14F-4D97-AF65-F5344CB8AC3E}">
        <p14:creationId xmlns:p14="http://schemas.microsoft.com/office/powerpoint/2010/main" val="8522242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15">
            <a:extLst xmlns:a="http://schemas.openxmlformats.org/drawingml/2006/main">
              <a:ext uri="{FF2B5EF4-FFF2-40B4-BE49-F238E27FC236}">
                <a16:creationId xmlns:a16="http://schemas.microsoft.com/office/drawing/2014/main" id="{3A3D1B11-76D5-41E8-A92B-B16577544B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</a:pPr>
            <a:r>
              <a:rPr sz="1000">
                <a:solidFill>
                  <a:schemeClr val="lt1"/>
                </a:solidFill>
              </a:rPr>
              <a:t>Source: notebook clustering + read-only ML service</a:t>
            </a:r>
          </a:p>
        </p:txBody>
      </p:sp>
      <p:sp>
        <p:nvSpPr>
          <p:cNvPr id="117" name="Google Shape;117;p15">
            <a:extLst xmlns:a="http://schemas.openxmlformats.org/drawingml/2006/main">
              <a:ext uri="{FF2B5EF4-FFF2-40B4-BE49-F238E27FC236}">
                <a16:creationId xmlns:a16="http://schemas.microsoft.com/office/drawing/2014/main" id="{3C249F01-7946-44F3-AEEC-299BFE645C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</a:pPr>
            <a:fld id="{00000000-1234-1234-1234-123412341234}" type="slidenum">
              <a: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‹#›</a:t>
            </a:fld>
          </a:p>
        </p:txBody>
      </p:sp>
      <p:sp>
        <p:nvSpPr>
          <p:cNvPr id="118" name="Google Shape;118;p15">
            <a:extLst xmlns:a="http://schemas.openxmlformats.org/drawingml/2006/main">
              <a:ext uri="{FF2B5EF4-FFF2-40B4-BE49-F238E27FC236}">
                <a16:creationId xmlns:a16="http://schemas.microsoft.com/office/drawing/2014/main" id="{BFF1F806-A214-4941-959C-5A4A491FA8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Helvetica Neue"/>
              <a:buNone/>
            </a:pPr>
            <a:r>
              <a:rPr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K-means stays descriptive until context is labeled</a:t>
            </a:r>
          </a:p>
        </p:txBody>
      </p:sp>
      <p:sp>
        <p:nvSpPr>
          <p:cNvPr id="119" name="Google Shape;119;p15">
            <a:extLst xmlns:a="http://schemas.openxmlformats.org/drawingml/2006/main">
              <a:ext uri="{FF2B5EF4-FFF2-40B4-BE49-F238E27FC236}">
                <a16:creationId xmlns:a16="http://schemas.microsoft.com/office/drawing/2014/main" id="{44391B5C-6F3E-4375-A995-BA9FD754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t>Rows are grouped by mean temperature and sensor spread; three observed patterns appear.</a:t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t>In the prototype, trend and clustering are secondary context and can return insufficient_data.</a:t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t>Without cause labels or a held-out test, clusters are descriptive—not causal.</a:t>
            </a:r>
          </a:p>
        </p:txBody>
      </p:sp>
      <p:pic>
        <p:nvPicPr>
          <p:cNvPr id="127" name="Google Shape;120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accf3f24534c0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69040" y="1421043"/>
            <a:ext cx="5539740" cy="3552802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>
            <a:noFill/>
          </a:ln>
        </p:spPr>
      </p:pic>
      <p:sp>
        <p:nvSpPr>
          <p:cNvPr id="121" name="Google Shape;121;p15">
            <a:extLst xmlns:a="http://schemas.openxmlformats.org/drawingml/2006/main">
              <a:ext uri="{FF2B5EF4-FFF2-40B4-BE49-F238E27FC236}">
                <a16:creationId xmlns:a16="http://schemas.microsoft.com/office/drawing/2014/main" id="{9F51EC0B-7EA7-47E2-A387-42ADA847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25" y="875975"/>
            <a:ext cx="5778600" cy="87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What can clustering contribute to a monitoring workflow?</a:t>
            </a:r>
          </a:p>
        </p:txBody>
      </p:sp>
    </p:spTree>
    <p:extLst>
      <p:ext uri="{BB962C8B-B14F-4D97-AF65-F5344CB8AC3E}">
        <p14:creationId xmlns:p14="http://schemas.microsoft.com/office/powerpoint/2010/main" val="9058503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Google Shape;127;p16">
            <a:extLst xmlns:a="http://schemas.openxmlformats.org/drawingml/2006/main">
              <a:ext uri="{FF2B5EF4-FFF2-40B4-BE49-F238E27FC236}">
                <a16:creationId xmlns:a16="http://schemas.microsoft.com/office/drawing/2014/main" id="{8D9925A7-CB7D-426D-AD5C-512842206F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</a:pPr>
            <a:r>
              <a:rPr sz="1000">
                <a:solidFill>
                  <a:schemeClr val="lt1"/>
                </a:solidFill>
              </a:rPr>
              <a:t>Source: notebook, sensordashboard README, and project tests</a:t>
            </a:r>
          </a:p>
        </p:txBody>
      </p:sp>
      <p:sp>
        <p:nvSpPr>
          <p:cNvPr id="128" name="Google Shape;128;p16">
            <a:extLst xmlns:a="http://schemas.openxmlformats.org/drawingml/2006/main">
              <a:ext uri="{FF2B5EF4-FFF2-40B4-BE49-F238E27FC236}">
                <a16:creationId xmlns:a16="http://schemas.microsoft.com/office/drawing/2014/main" id="{EB6B2E16-B50F-41EA-896B-B28694F2F9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</a:pPr>
            <a:fld id="{00000000-1234-1234-1234-123412341234}" type="slidenum">
              <a: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‹#›</a:t>
            </a:fld>
          </a:p>
        </p:txBody>
      </p:sp>
      <p:sp>
        <p:nvSpPr>
          <p:cNvPr id="129" name="Google Shape;129;p16">
            <a:extLst xmlns:a="http://schemas.openxmlformats.org/drawingml/2006/main">
              <a:ext uri="{FF2B5EF4-FFF2-40B4-BE49-F238E27FC236}">
                <a16:creationId xmlns:a16="http://schemas.microsoft.com/office/drawing/2014/main" id="{8114A03E-89EB-4657-886A-CF6CF0250A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Helvetica Neue"/>
              <a:buNone/>
            </a:pPr>
            <a:r>
              <a:t>What is implemented, and what remains bounded</a:t>
            </a:r>
          </a:p>
        </p:txBody>
      </p:sp>
      <p:sp>
        <p:nvSpPr>
          <p:cNvPr id="130" name="Google Shape;130;p16">
            <a:extLst xmlns:a="http://schemas.openxmlformats.org/drawingml/2006/main">
              <a:ext uri="{FF2B5EF4-FFF2-40B4-BE49-F238E27FC236}">
                <a16:creationId xmlns:a16="http://schemas.microsoft.com/office/drawing/2014/main" id="{35849AFF-A327-41D1-8DE2-09753E61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The project now connects public-data learning questions to a local, reproducible software path—while keeping clinical and physical-sensor claims explicitly out of scope.</a:t>
            </a:r>
          </a:p>
        </p:txBody>
      </p:sp>
      <p:graphicFrame>
        <p:nvGraphicFramePr>
          <p:cNvPr id="136" name="Google Shape;131;p16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{2F08A64A-5A62-4512-BD8C-7F7C75CF133A}</a:tableStyleId>
              </a:tblPr>
              <a:tblGrid>
                <a:gridCol w="3906075"/>
                <a:gridCol w="1874625"/>
                <a:gridCol w="1874625"/>
                <a:gridCol w="1874625"/>
                <a:gridCol w="1874625"/>
              </a:tblGrid>
              <a:tr h="4370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b="1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source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b="1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b="1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answer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b="1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Artifact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b="1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Boundary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</a:tr>
              <a:tr h="4369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Public dataset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 / logistic / K-means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 proxies work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Notebook charts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Dataset-relative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</a:tr>
              <a:tr h="4369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Synthetic events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Seeded scenarios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→ outlier paths run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Generator + tests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physical data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</a:tr>
              <a:tr h="4369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MQTT + PostgreSQL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Validate + dual write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Events persist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Raw event stream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demo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</a:tr>
              <a:tr h="4369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Dashboard bridge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Read-only browser path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Ops view works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Analytics + raw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disposition change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</a:tr>
              <a:tr h="4369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 service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Saved-model inference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Advisory outputs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Inference tab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retraining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12700" cmpd="sng">
                      <a:solidFill>
                        <a:schemeClr val="lt1"/>
                      </a:solidFill>
                      <a:prstDash val="solid"/>
                    </a:lnB>
                  </a:tcPr>
                </a:tc>
              </a:tr>
              <a:tr h="4369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Physical plan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Arduino sensors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completed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Future extension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Helvetica Neue"/>
                        <a:buNone/>
                      </a:pPr>
                      <a:r>
                        <a:rPr sz="1400" u="non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facility validation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lt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14045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C6CE4B59-9C50-4CD9-8FE1-7D87C7B636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</a:pPr>
            <a:r>
              <a:rPr sz="1000">
                <a:solidFill>
                  <a:schemeClr val="lt1"/>
                </a:solidFill>
              </a:rPr>
              <a:t>Source: sensordashboard README + current raw-events view</a:t>
            </a:r>
          </a:p>
        </p:txBody>
      </p:sp>
      <p:sp>
        <p:nvSpPr>
          <p:cNvPr id="84" name="Google Shape;84;p12">
            <a:extLst xmlns:a="http://schemas.openxmlformats.org/drawingml/2006/main">
              <a:ext uri="{FF2B5EF4-FFF2-40B4-BE49-F238E27FC236}">
                <a16:creationId xmlns:a16="http://schemas.microsoft.com/office/drawing/2014/main" id="{9565C3C3-28CC-4A1F-990A-DDC481ACC0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</a:pPr>
            <a:fld id="{00000000-1234-1234-1234-123412341234}" type="slidenum">
              <a: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‹#›</a:t>
            </a:fld>
          </a:p>
        </p:txBody>
      </p:sp>
      <p:sp>
        <p:nvSpPr>
          <p:cNvPr id="85" name="Google Shape;85;p12">
            <a:extLst xmlns:a="http://schemas.openxmlformats.org/drawingml/2006/main">
              <a:ext uri="{FF2B5EF4-FFF2-40B4-BE49-F238E27FC236}">
                <a16:creationId xmlns:a16="http://schemas.microsoft.com/office/drawing/2014/main" id="{12B3DEEB-5FED-49EC-930E-C3C90F54EA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Helvetica Neue"/>
              <a:buNone/>
            </a:pPr>
            <a:r>
              <a:rPr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A temperature event now has a durable evidence path</a:t>
            </a:r>
          </a:p>
        </p:txBody>
      </p:sp>
      <p:sp>
        <p:nvSpPr>
          <p:cNvPr id="86" name="Google Shape;86;p12">
            <a:extLst xmlns:a="http://schemas.openxmlformats.org/drawingml/2006/main">
              <a:ext uri="{FF2B5EF4-FFF2-40B4-BE49-F238E27FC236}">
                <a16:creationId xmlns:a16="http://schemas.microsoft.com/office/drawing/2014/main" id="{D55BD803-4190-4C6B-A230-CBC5A46D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Generator → MQTT → subscriber validation → PostgreSQL dual write → read-only bridge → browser.</a:t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The raw-events view shows the persisted side of that contract, including PostgreSQL connection, filters, and event rows.</a:t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This is a local synthetic pipeline; the physical sensor feed is planned.</a:t>
            </a:r>
          </a:p>
        </p:txBody>
      </p:sp>
      <p:sp>
        <p:nvSpPr>
          <p:cNvPr id="87" name="Google Shape;87;p12">
            <a:extLst xmlns:a="http://schemas.openxmlformats.org/drawingml/2006/main">
              <a:ext uri="{FF2B5EF4-FFF2-40B4-BE49-F238E27FC236}">
                <a16:creationId xmlns:a16="http://schemas.microsoft.com/office/drawing/2014/main" id="{574FACFA-5E3C-4BC9-8398-CA4DAD83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25" y="875975"/>
            <a:ext cx="5778600" cy="87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How does one simulated event reach the browser?</a:t>
            </a:r>
          </a:p>
        </p:txBody>
      </p:sp>
      <p:pic>
        <p:nvPicPr>
          <p:cNvPr id="94" name="Google Shape;88;p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b1ba92c1442d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327400" y="1041399"/>
            <a:ext cx="5397000" cy="4583100"/>
          </a:xfrm>
          <a:prstGeom xmlns:a="http://schemas.openxmlformats.org/drawingml/2006/main" prst="round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089366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13">
            <a:extLst xmlns:a="http://schemas.openxmlformats.org/drawingml/2006/main">
              <a:ext uri="{FF2B5EF4-FFF2-40B4-BE49-F238E27FC236}">
                <a16:creationId xmlns:a16="http://schemas.microsoft.com/office/drawing/2014/main" id="{C7EFE77B-0F77-48CA-A855-1714863424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</a:pPr>
            <a:r>
              <a:rPr sz="1000">
                <a:solidFill>
                  <a:schemeClr val="lt1"/>
                </a:solidFill>
              </a:rPr>
              <a:t>Source: sensordashboard README + current analytics view</a:t>
            </a:r>
          </a:p>
        </p:txBody>
      </p:sp>
      <p:sp>
        <p:nvSpPr>
          <p:cNvPr id="95" name="Google Shape;95;p13">
            <a:extLst xmlns:a="http://schemas.openxmlformats.org/drawingml/2006/main">
              <a:ext uri="{FF2B5EF4-FFF2-40B4-BE49-F238E27FC236}">
                <a16:creationId xmlns:a16="http://schemas.microsoft.com/office/drawing/2014/main" id="{368FE4BE-F54F-41C5-BCF4-2B36C63E96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</a:pPr>
            <a:fld id="{00000000-1234-1234-1234-123412341234}" type="slidenum">
              <a: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‹#›</a:t>
            </a:fld>
          </a:p>
        </p:txBody>
      </p:sp>
      <p:sp>
        <p:nvSpPr>
          <p:cNvPr id="96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6DF545AB-C63E-4790-BFD9-58329B264F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Helvetica Neue"/>
              <a:buNone/>
            </a:pPr>
            <a:r>
              <a:rPr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The dashboard turns scenarios into inspectable operating signals</a:t>
            </a: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C8FE0E78-D425-4FC5-BD35-E68F94E8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Analytics combines status, excursion/recovery counts, scenario coverage, profile split, sensor variation, and uncertainty.</a:t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Normal, warning, recovery, mixed, and outlier runs can be replayed deterministically to exercise the view.</a:t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The browser reads through the bridge; it does not write PostgreSQL or change vaccine disposition.</a:t>
            </a:r>
          </a:p>
        </p:txBody>
      </p:sp>
      <p:pic>
        <p:nvPicPr>
          <p:cNvPr id="105" name="Google Shape;9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1a65085a324ae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51950" y="2032000"/>
            <a:ext cx="6273000" cy="3100500"/>
          </a:xfrm>
          <a:prstGeom xmlns:a="http://schemas.openxmlformats.org/drawingml/2006/main" prst="round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C0799AC7-5BD3-4FA1-88AF-BDC85316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25" y="875975"/>
            <a:ext cx="5778600" cy="87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What can the browser show today?</a:t>
            </a:r>
          </a:p>
        </p:txBody>
      </p:sp>
    </p:spTree>
    <p:extLst>
      <p:ext uri="{BB962C8B-B14F-4D97-AF65-F5344CB8AC3E}">
        <p14:creationId xmlns:p14="http://schemas.microsoft.com/office/powerpoint/2010/main" val="1465104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Google Shape;105;p14">
            <a:extLst xmlns:a="http://schemas.openxmlformats.org/drawingml/2006/main">
              <a:ext uri="{FF2B5EF4-FFF2-40B4-BE49-F238E27FC236}">
                <a16:creationId xmlns:a16="http://schemas.microsoft.com/office/drawing/2014/main" id="{DF4E249A-5B65-4EDC-B00A-1BED9FF4F3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</a:pPr>
            <a:r>
              <a:rPr sz="1000">
                <a:solidFill>
                  <a:schemeClr val="lt1"/>
                </a:solidFill>
              </a:rPr>
              <a:t>Source: ML inference record + sensordashboard service</a:t>
            </a:r>
          </a:p>
        </p:txBody>
      </p:sp>
      <p:sp>
        <p:nvSpPr>
          <p:cNvPr id="106" name="Google Shape;106;p14">
            <a:extLst xmlns:a="http://schemas.openxmlformats.org/drawingml/2006/main">
              <a:ext uri="{FF2B5EF4-FFF2-40B4-BE49-F238E27FC236}">
                <a16:creationId xmlns:a16="http://schemas.microsoft.com/office/drawing/2014/main" id="{2F561AD8-09F2-4A2F-B3ED-9CBCB127B1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elvetica Neue"/>
              <a:buNone/>
            </a:pPr>
            <a:fld id="{00000000-1234-1234-1234-123412341234}" type="slidenum">
              <a:rPr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‹#›</a:t>
            </a:fld>
          </a:p>
        </p:txBody>
      </p:sp>
      <p:sp>
        <p:nvSpPr>
          <p:cNvPr id="107" name="Google Shape;107;p14">
            <a:extLst xmlns:a="http://schemas.openxmlformats.org/drawingml/2006/main">
              <a:ext uri="{FF2B5EF4-FFF2-40B4-BE49-F238E27FC236}">
                <a16:creationId xmlns:a16="http://schemas.microsoft.com/office/drawing/2014/main" id="{78E453D5-D656-4388-9299-01DD045930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Helvetica Neue"/>
              <a:buNone/>
            </a:pPr>
            <a:r>
              <a:rPr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ML is integrated as read-only advisory context</a:t>
            </a:r>
          </a:p>
        </p:txBody>
      </p:sp>
      <p:sp>
        <p:nvSpPr>
          <p:cNvPr id="108" name="Google Shape;108;p14">
            <a:extLst xmlns:a="http://schemas.openxmlformats.org/drawingml/2006/main">
              <a:ext uri="{FF2B5EF4-FFF2-40B4-BE49-F238E27FC236}">
                <a16:creationId xmlns:a16="http://schemas.microsoft.com/office/drawing/2014/main" id="{ED7C505F-7846-4867-A67F-B82A4DE5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Training is a separate step that writes a saved model bundle.</a:t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The service loads it once, scores one event, and returns advisory logistic, trend, and cluster outputs.</a:t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14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The result is advisory: no retraining, database writes, or operational disposition changes occur during inference.</a:t>
            </a:r>
          </a:p>
        </p:txBody>
      </p:sp>
      <p:pic>
        <p:nvPicPr>
          <p:cNvPr id="116" name="Google Shape;109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1c0255a5b3d4cf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90374" y="1937799"/>
            <a:ext cx="6199200" cy="28554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>
            <a:noFill/>
          </a:ln>
        </p:spPr>
      </p:pic>
      <p:sp>
        <p:nvSpPr>
          <p:cNvPr id="110" name="Google Shape;110;p14">
            <a:extLst xmlns:a="http://schemas.openxmlformats.org/drawingml/2006/main">
              <a:ext uri="{FF2B5EF4-FFF2-40B4-BE49-F238E27FC236}">
                <a16:creationId xmlns:a16="http://schemas.microsoft.com/office/drawing/2014/main" id="{16D9FC10-ABCD-4037-9A9A-5D3FD271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25" y="875975"/>
            <a:ext cx="5778600" cy="87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What happens when the Inference tab receives one event?</a:t>
            </a:r>
          </a:p>
        </p:txBody>
      </p:sp>
    </p:spTree>
    <p:extLst>
      <p:ext uri="{BB962C8B-B14F-4D97-AF65-F5344CB8AC3E}">
        <p14:creationId xmlns:p14="http://schemas.microsoft.com/office/powerpoint/2010/main" val="852224287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2026-08-04T17:57:10.6420000Z</dcterms:created>
  <dcterms:modified xsi:type="dcterms:W3CDTF">2026-08-04T17:57:10.6420000Z</dcterms:modified>
</coreProperties>
</file>